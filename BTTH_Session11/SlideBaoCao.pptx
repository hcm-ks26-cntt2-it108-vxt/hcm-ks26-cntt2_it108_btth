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Arial"/>
              </a:defRPr>
            </a:pPr>
            <a:r>
              <a:t>Chuẩn hóa 4 phiếu mượn giúp phát hiện 1 mã sách chưa có trong danh mục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95959"/>
                </a:solidFill>
                <a:latin typeface="Arial"/>
              </a:defRPr>
            </a:pPr>
            <a:r>
              <a:t>Báo cáo tiến độ • Hệ thống Quản lý Thư viện Trường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48840"/>
            <a:ext cx="3246120" cy="1417320"/>
          </a:xfrm>
          <a:prstGeom prst="roundRect">
            <a:avLst/>
          </a:prstGeom>
          <a:solidFill>
            <a:srgbClr val="E2EFF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3000" b="1">
                <a:solidFill>
                  <a:srgbClr val="1F4E79"/>
                </a:solidFill>
                <a:latin typeface="Arial"/>
              </a:defRPr>
            </a:pPr>
            <a:r>
              <a:t>4</a:t>
            </a:r>
          </a:p>
          <a:p>
            <a:pPr algn="ctr">
              <a:defRPr sz="1600">
                <a:solidFill>
                  <a:srgbClr val="2D2D2D"/>
                </a:solidFill>
                <a:latin typeface="Arial"/>
              </a:defRPr>
            </a:pPr>
            <a:r>
              <a:t>phiếu mượn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148840"/>
            <a:ext cx="3246120" cy="1417320"/>
          </a:xfrm>
          <a:prstGeom prst="roundRect">
            <a:avLst/>
          </a:prstGeom>
          <a:solidFill>
            <a:srgbClr val="E2EFF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3000" b="1">
                <a:solidFill>
                  <a:srgbClr val="1F4E79"/>
                </a:solidFill>
                <a:latin typeface="Arial"/>
              </a:defRPr>
            </a:pPr>
            <a:r>
              <a:t>3</a:t>
            </a:r>
          </a:p>
          <a:p>
            <a:pPr algn="ctr">
              <a:defRPr sz="1600">
                <a:solidFill>
                  <a:srgbClr val="2D2D2D"/>
                </a:solidFill>
                <a:latin typeface="Arial"/>
              </a:defRPr>
            </a:pPr>
            <a:r>
              <a:t>mã sách hợp lệ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2148840"/>
            <a:ext cx="3611880" cy="1417320"/>
          </a:xfrm>
          <a:prstGeom prst="roundRect">
            <a:avLst/>
          </a:prstGeom>
          <a:solidFill>
            <a:srgbClr val="E2EFF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3000" b="1">
                <a:solidFill>
                  <a:srgbClr val="1F4E79"/>
                </a:solidFill>
                <a:latin typeface="Arial"/>
              </a:defRPr>
            </a:pPr>
            <a:r>
              <a:t>1</a:t>
            </a:r>
          </a:p>
          <a:p>
            <a:pPr algn="ctr">
              <a:defRPr sz="1600">
                <a:solidFill>
                  <a:srgbClr val="2D2D2D"/>
                </a:solidFill>
                <a:latin typeface="Arial"/>
              </a:defRPr>
            </a:pPr>
            <a:r>
              <a:t>mã chưa có: S099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977639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9"/>
                </a:solidFill>
                <a:latin typeface="Arial"/>
              </a:defRPr>
            </a:pPr>
            <a:r>
              <a:t>Số phiếu theo tình trạng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latin typeface="Arial"/>
              </a:defRPr>
            </a:pPr>
            <a:r>
              <a:t>Đang mượn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4544568"/>
            <a:ext cx="2743200" cy="25603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450799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93208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latin typeface="Arial"/>
              </a:defRPr>
            </a:pPr>
            <a:r>
              <a:t>Quá hạn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5111496"/>
            <a:ext cx="1371600" cy="25603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50749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latin typeface="Arial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60136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latin typeface="Arial"/>
              </a:defRPr>
            </a:pPr>
            <a:r>
              <a:t>Đã trả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5678424"/>
            <a:ext cx="1371600" cy="25603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564184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latin typeface="Arial"/>
              </a:defRPr>
            </a:pPr>
            <a: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4069080"/>
            <a:ext cx="4572000" cy="1828800"/>
          </a:xfrm>
          <a:prstGeom prst="roundRect">
            <a:avLst/>
          </a:prstGeom>
          <a:solidFill>
            <a:srgbClr val="FFF2CC"/>
          </a:solidFill>
          <a:ln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7F6000"/>
                </a:solidFill>
                <a:latin typeface="Arial"/>
              </a:defRPr>
            </a:pPr>
            <a:r>
              <a:t>Việc cần làm tiếp theo</a:t>
            </a:r>
          </a:p>
          <a:p>
            <a:pPr>
              <a:defRPr sz="1500">
                <a:solidFill>
                  <a:srgbClr val="404040"/>
                </a:solidFill>
                <a:latin typeface="Arial"/>
              </a:defRPr>
            </a:pPr>
            <a:r>
              <a:t>• Kiểm tra và bổ sung mã S099 nếu sách có thật.</a:t>
            </a:r>
          </a:p>
          <a:p>
            <a:pPr>
              <a:defRPr sz="1500">
                <a:solidFill>
                  <a:srgbClr val="404040"/>
                </a:solidFill>
                <a:latin typeface="Arial"/>
              </a:defRPr>
            </a:pPr>
            <a:r>
              <a:t>• Dùng VLOOKUP + IFERROR để báo mã không tồn tại.</a:t>
            </a:r>
          </a:p>
          <a:p>
            <a:pPr>
              <a:defRPr sz="1500">
                <a:solidFill>
                  <a:srgbClr val="404040"/>
                </a:solidFill>
                <a:latin typeface="Arial"/>
              </a:defRPr>
            </a:pPr>
            <a:r>
              <a:t>• Lọc AutoFilter để theo dõi phiếu quá hạn.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  <a:latin typeface="Arial"/>
              </a:defRPr>
            </a:pPr>
            <a:r>
              <a:t>Rule 10/20/30: 1 slide trong bộ 10 slide • khoảng 1 phút nếu tổng bài trình bày 20 phút • cỡ chữ tiêu đề 30 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